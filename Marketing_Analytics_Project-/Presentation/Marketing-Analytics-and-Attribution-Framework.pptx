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Overpass Light"/>
      <p:regular r:id="rId14"/>
      <p:bold r:id="rId15"/>
      <p:italic r:id="rId16"/>
      <p:boldItalic r:id="rId17"/>
    </p:embeddedFont>
    <p:embeddedFont>
      <p:font typeface="Syne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J2bQ5RFPOJuM5BktqAG/u3sR2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verpassLight-bold.fntdata"/><Relationship Id="rId14" Type="http://schemas.openxmlformats.org/officeDocument/2006/relationships/font" Target="fonts/OverpassLight-regular.fntdata"/><Relationship Id="rId17" Type="http://schemas.openxmlformats.org/officeDocument/2006/relationships/font" Target="fonts/OverpassLight-boldItalic.fntdata"/><Relationship Id="rId16" Type="http://schemas.openxmlformats.org/officeDocument/2006/relationships/font" Target="fonts/OverpassLight-italic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Syn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496119" y="1634058"/>
            <a:ext cx="2004120" cy="266402"/>
          </a:xfrm>
          <a:prstGeom prst="roundRect">
            <a:avLst>
              <a:gd fmla="val 17880" name="adj"/>
            </a:avLst>
          </a:prstGeom>
          <a:solidFill>
            <a:srgbClr val="DDEE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81174" y="1676549"/>
            <a:ext cx="2291209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None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GRITO LABS · IIT BOMBAY TECHFEST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96119" y="1957164"/>
            <a:ext cx="8151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Marketing Analytics &amp; Attribution Framework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96119" y="3055739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Multi-Channel Marketing Performance Analysis — evaluating Email, Social Media, Paid Search, and Display Ads using CTR, Conversion Rate, CPC, CAC, and ROAS to identify high-performing channels and optimize marketing budget allocation.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9300" y="4689877"/>
            <a:ext cx="1054372" cy="4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96119" y="793775"/>
            <a:ext cx="6252790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Objective &amp; Dataset Overview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94022" y="1449363"/>
            <a:ext cx="4107135" cy="2900363"/>
          </a:xfrm>
          <a:prstGeom prst="roundRect">
            <a:avLst>
              <a:gd fmla="val 3519" name="adj"/>
            </a:avLst>
          </a:prstGeom>
          <a:solidFill>
            <a:srgbClr val="2244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35781" y="1591121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Objective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35781" y="1954337"/>
            <a:ext cx="3823618" cy="17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Analyze multi-channel marketing performance across Email, Social Media, Paid Search, and Display Ads using key marketing KPIs such as CTR, Conversion Rate, CPC, CAC, and ROAS.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The goal is to identify high-performing channels and provide data-driven recommendations for marketing budget optimization.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49701" y="1591121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Dataset 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749701" y="1954337"/>
            <a:ext cx="436014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Marketing performance data includes: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49701" y="2308696"/>
            <a:ext cx="3902943" cy="133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Impressions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Clicks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49701" y="3768551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Channels analyzed: Email, Social Media, Paid Search, Display 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5475" y="4689875"/>
            <a:ext cx="1054372" cy="4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674489" y="445219"/>
            <a:ext cx="4757663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Key Performance 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74489" y="978173"/>
            <a:ext cx="8252147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None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Overall marketing performance across all four channels demonstrates strong revenue generation with a healthy aggregate ROAS of </a:t>
            </a:r>
            <a:r>
              <a:rPr b="1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3.46x</a:t>
            </a: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74489" y="1298228"/>
            <a:ext cx="3841179" cy="372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900"/>
              <a:buFont typeface="Syne"/>
              <a:buNone/>
            </a:pPr>
            <a:r>
              <a:rPr b="1" i="0" lang="en-US" sz="29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61,500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889001" y="1795016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Total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74489" y="2025476"/>
            <a:ext cx="3841179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None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Combined investment across all channels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628183" y="1298228"/>
            <a:ext cx="3841254" cy="372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900"/>
              <a:buFont typeface="Syne"/>
              <a:buNone/>
            </a:pPr>
            <a:r>
              <a:rPr b="1" i="0" lang="en-US" sz="29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213,000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842769" y="1795016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Total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628183" y="2025476"/>
            <a:ext cx="3841254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None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Generated across all channels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74489" y="2424336"/>
            <a:ext cx="3841179" cy="372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900"/>
              <a:buFont typeface="Syne"/>
              <a:buNone/>
            </a:pPr>
            <a:r>
              <a:rPr b="1" i="0" lang="en-US" sz="29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1,720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889001" y="2921124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Total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74489" y="3151584"/>
            <a:ext cx="3841179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None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Across all channels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628183" y="2424336"/>
            <a:ext cx="3841254" cy="372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900"/>
              <a:buFont typeface="Syne"/>
              <a:buNone/>
            </a:pPr>
            <a:r>
              <a:rPr b="1" i="0" lang="en-US" sz="29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3.46x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842769" y="2921124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Overall ROAS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628183" y="3151584"/>
            <a:ext cx="3841254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None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Return on Ad Spend (approx)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74489" y="3448943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KPIs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74489" y="3760440"/>
            <a:ext cx="7794947" cy="937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Char char="•"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CTR (Click Through Rate)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Char char="•"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Conversion Rate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Char char="•"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CPC (Cost Per Click)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Char char="•"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CAC (Customer Acquisition Cost)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850"/>
              <a:buFont typeface="Overpass Light"/>
              <a:buChar char="•"/>
            </a:pPr>
            <a:r>
              <a:rPr b="0" i="0" lang="en-US" sz="8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ROAS (Return on Ad Spend)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275" y="4671650"/>
            <a:ext cx="1096725" cy="4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Revenue Analysis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94830"/>
            <a:ext cx="3902943" cy="280935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Key Insights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49701" y="1840334"/>
            <a:ext cx="3902943" cy="146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Paid Search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generates the highest revenue at </a:t>
            </a: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93,000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, making it the strongest revenue-driving channel.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Email marketing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follows with consistent high conversion-driven revenue.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Social Media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and </a:t>
            </a: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Display Ads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contribute lower revenue comparatively, indicating optimization opportunities.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0619" y="4638681"/>
            <a:ext cx="1173377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496119" y="679772"/>
            <a:ext cx="659472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Spend vs. Revenue Comparison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94830"/>
            <a:ext cx="3902943" cy="280935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Insights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49701" y="1840334"/>
            <a:ext cx="3902943" cy="1686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Paid Search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has the highest spend (</a:t>
            </a: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25,000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) but also delivers the highest revenue (</a:t>
            </a: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93,000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), indicating scale efficiency.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Email marketing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shows strong revenue generation with relatively lower spend, making it highly cost-efficient.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Display Ads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show low revenue relative to spend, indicating weak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6400" y="4481967"/>
            <a:ext cx="1537600" cy="6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96119" y="679772"/>
            <a:ext cx="556498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ROAS Analysis by Channel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94830"/>
            <a:ext cx="3902943" cy="280935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ROAS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49701" y="1840334"/>
            <a:ext cx="3902943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Email: 5.05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(Highest efficiency)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Paid Search: 3.72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Social Media: 2.77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Char char="•"/>
            </a:pPr>
            <a:r>
              <a:rPr b="1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Display Ads: 2.52</a:t>
            </a: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(Lowest efficiency)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749701" y="3023815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Email marketing is the most efficient channel in terms of return on ad spend, while Display Ads require optimization or budget reduction.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0625" y="4638670"/>
            <a:ext cx="1173377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496119" y="886495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Channel Insights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96119" y="1612999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Each channel exhibits a distinct performance profile across efficiency, revenue contribution, and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96119" y="1999283"/>
            <a:ext cx="4004965" cy="1057945"/>
          </a:xfrm>
          <a:prstGeom prst="roundRect">
            <a:avLst>
              <a:gd fmla="val 5628" name="adj"/>
            </a:avLst>
          </a:prstGeom>
          <a:solidFill>
            <a:srgbClr val="DDEEE6"/>
          </a:solidFill>
          <a:ln cap="flat" cmpd="sng" w="95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42640" y="2145804"/>
            <a:ext cx="1772022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Syne"/>
                <a:ea typeface="Syne"/>
                <a:cs typeface="Syne"/>
                <a:sym typeface="Syne"/>
              </a:rPr>
              <a:t>📧</a:t>
            </a: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 Email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2640" y="2457078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Most efficient marketing channel — highest ROAS at 5.05x with strong conversion-driven revenue.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642842" y="1999283"/>
            <a:ext cx="4005039" cy="1057945"/>
          </a:xfrm>
          <a:prstGeom prst="roundRect">
            <a:avLst>
              <a:gd fmla="val 5628" name="adj"/>
            </a:avLst>
          </a:prstGeom>
          <a:solidFill>
            <a:srgbClr val="DDEEE6"/>
          </a:solidFill>
          <a:ln cap="flat" cmpd="sng" w="95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4789363" y="2145804"/>
            <a:ext cx="1772022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Syne"/>
                <a:ea typeface="Syne"/>
                <a:cs typeface="Syne"/>
                <a:sym typeface="Syne"/>
              </a:rPr>
              <a:t>🔍</a:t>
            </a: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 Paid Search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789363" y="2457078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Drives the highest revenue contribution at $93,000 with solid ROAS of 3.72x.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96119" y="3198986"/>
            <a:ext cx="4004965" cy="1057945"/>
          </a:xfrm>
          <a:prstGeom prst="roundRect">
            <a:avLst>
              <a:gd fmla="val 5628" name="adj"/>
            </a:avLst>
          </a:prstGeom>
          <a:solidFill>
            <a:srgbClr val="DDEEE6"/>
          </a:solidFill>
          <a:ln cap="flat" cmpd="sng" w="95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42640" y="3345507"/>
            <a:ext cx="1772022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Syne"/>
                <a:ea typeface="Syne"/>
                <a:cs typeface="Syne"/>
                <a:sym typeface="Syne"/>
              </a:rPr>
              <a:t>📱</a:t>
            </a: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 Social Media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42640" y="3656781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Shows moderate performance across KPIs with room for targeting and conversion optimization.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642842" y="3198986"/>
            <a:ext cx="4005039" cy="1057945"/>
          </a:xfrm>
          <a:prstGeom prst="roundRect">
            <a:avLst>
              <a:gd fmla="val 5628" name="adj"/>
            </a:avLst>
          </a:prstGeom>
          <a:solidFill>
            <a:srgbClr val="DDEEE6"/>
          </a:solidFill>
          <a:ln cap="flat" cmpd="sng" w="9525">
            <a:solidFill>
              <a:srgbClr val="C3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789363" y="3345507"/>
            <a:ext cx="1772022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Syne"/>
                <a:ea typeface="Syne"/>
                <a:cs typeface="Syne"/>
                <a:sym typeface="Syne"/>
              </a:rPr>
              <a:t>🖼️</a:t>
            </a: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 Display Ads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789363" y="3656781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Underperforms in terms of ROI and efficiency — lowest ROAS at 2.52x.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7725" y="4545196"/>
            <a:ext cx="1316265" cy="5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496119" y="527372"/>
            <a:ext cx="4112047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00"/>
              <a:buFont typeface="Syne"/>
              <a:buNone/>
            </a:pPr>
            <a:r>
              <a:rPr b="1" i="0" lang="en-US" sz="270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Recommendations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96119" y="1222549"/>
            <a:ext cx="8151763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50"/>
              <a:buFont typeface="Overpass Light"/>
              <a:buNone/>
            </a:pPr>
            <a:r>
              <a:rPr b="0" i="0" lang="en-US" sz="10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Based on the multi-channel performance analysis, the following strategic actions are recommended to optimize marketing budget allocation and improve overall ROI.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04839"/>
            <a:ext cx="4009355" cy="144727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/>
          <p:nvPr/>
        </p:nvSpPr>
        <p:spPr>
          <a:xfrm>
            <a:off x="2397770" y="1898749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Syne"/>
              <a:buNone/>
            </a:pPr>
            <a:r>
              <a:rPr b="1" i="0" lang="en-US" sz="16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52463" y="2368823"/>
            <a:ext cx="2123033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Increase Email Budget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52463" y="2663130"/>
            <a:ext cx="3696667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50"/>
              <a:buFont typeface="Overpass Light"/>
              <a:buNone/>
            </a:pPr>
            <a:r>
              <a:rPr b="0" i="0" lang="en-US" sz="10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Increase budget allocation for Email campaigns due to highest ROAS.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8452" y="1804839"/>
            <a:ext cx="4009430" cy="144727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6540178" y="1898749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Syne"/>
              <a:buNone/>
            </a:pPr>
            <a:r>
              <a:rPr b="1" i="0" lang="en-US" sz="16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794796" y="2368823"/>
            <a:ext cx="2043261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Optimize Paid Search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794796" y="2663130"/>
            <a:ext cx="36967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50"/>
              <a:buFont typeface="Overpass Light"/>
              <a:buNone/>
            </a:pPr>
            <a:r>
              <a:rPr b="0" i="0" lang="en-US" sz="10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Optimize Paid Search campaigns for cost efficiency.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385096"/>
            <a:ext cx="4009355" cy="123095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2397770" y="3479006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Syne"/>
              <a:buNone/>
            </a:pPr>
            <a:r>
              <a:rPr b="1" i="0" lang="en-US" sz="16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52463" y="3949080"/>
            <a:ext cx="2976265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Reduce or Retarget Display Ads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52463" y="4243388"/>
            <a:ext cx="3696667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50"/>
              <a:buFont typeface="Overpass Light"/>
              <a:buNone/>
            </a:pPr>
            <a:r>
              <a:rPr b="0" i="0" lang="en-US" sz="10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Reduce or retarget Display Ads due to low ROI.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452" y="3385096"/>
            <a:ext cx="4009430" cy="123095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6540178" y="3479006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600"/>
              <a:buFont typeface="Syne"/>
              <a:buNone/>
            </a:pPr>
            <a:r>
              <a:rPr b="1" i="0" lang="en-US" sz="160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794796" y="3949080"/>
            <a:ext cx="2039169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350"/>
              <a:buFont typeface="Syne"/>
              <a:buNone/>
            </a:pPr>
            <a:r>
              <a:rPr b="1" i="0" lang="en-US" sz="1350" u="none" cap="none" strike="noStrike">
                <a:solidFill>
                  <a:srgbClr val="3B4E4E"/>
                </a:solidFill>
                <a:latin typeface="Syne"/>
                <a:ea typeface="Syne"/>
                <a:cs typeface="Syne"/>
                <a:sym typeface="Syne"/>
              </a:rPr>
              <a:t>Improve Social Media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794796" y="4243388"/>
            <a:ext cx="36967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050"/>
              <a:buFont typeface="Overpass Light"/>
              <a:buNone/>
            </a:pPr>
            <a:r>
              <a:rPr b="0" i="0" lang="en-US" sz="105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Improve Social Media targeting and conversion optimization.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566" y="152400"/>
            <a:ext cx="8191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58700" y="4749025"/>
            <a:ext cx="10056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496119" y="1322487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2750"/>
              <a:buFont typeface="Syne"/>
              <a:buNone/>
            </a:pPr>
            <a:r>
              <a:rPr b="1" i="0" lang="en-US" sz="2750" u="none" cap="none" strike="noStrike">
                <a:solidFill>
                  <a:srgbClr val="233939"/>
                </a:solidFill>
                <a:latin typeface="Syne"/>
                <a:ea typeface="Syne"/>
                <a:cs typeface="Syne"/>
                <a:sym typeface="Syne"/>
              </a:rPr>
              <a:t>Conclusion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08720" y="2208461"/>
            <a:ext cx="793916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This analysis demonstrates how marketing performance varies across channels. Data-driven insights enable better budget allocation, improved ROI, and more effective marketing strategy decisions.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96119" y="2981027"/>
            <a:ext cx="8151763" cy="8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Email and Paid Search emerge as the strongest performing channels in this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B4E4E"/>
              </a:buClr>
              <a:buSzPts val="1100"/>
              <a:buFont typeface="Overpass Light"/>
              <a:buNone/>
            </a:pPr>
            <a:r>
              <a:rPr b="0" i="0" lang="en-US" sz="1100" u="none" cap="none" strike="noStrike">
                <a:solidFill>
                  <a:srgbClr val="3B4E4E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These findings underscore the importance of continuous performance monitoring and data-driven decision-making in multi-channel marketing strategy.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000" y="4700502"/>
            <a:ext cx="1029676" cy="4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2026-06-12T11:39:57Z</dcterms:created>
</cp:coreProperties>
</file>